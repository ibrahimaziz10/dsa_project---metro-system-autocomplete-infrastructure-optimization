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Roboto Bold" charset="1" panose="02000000000000000000"/>
      <p:regular r:id="rId13"/>
    </p:embeddedFont>
    <p:embeddedFont>
      <p:font typeface="Archivo Black" charset="1" panose="020B0A03020202020B04"/>
      <p:regular r:id="rId14"/>
    </p:embeddedFont>
    <p:embeddedFont>
      <p:font typeface="Roboto" charset="1" panose="020000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gif" Type="http://schemas.openxmlformats.org/officeDocument/2006/relationships/image"/><Relationship Id="rId6" Target="../media/image3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jpeg" Type="http://schemas.openxmlformats.org/officeDocument/2006/relationships/image"/><Relationship Id="rId5" Target="../media/image3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1.jpeg" Type="http://schemas.openxmlformats.org/officeDocument/2006/relationships/image"/><Relationship Id="rId4" Target="../media/VAHRmrELVD0.mp4" Type="http://schemas.openxmlformats.org/officeDocument/2006/relationships/video"/><Relationship Id="rId5" Target="../media/VAHRmrELVD0.mp4" Type="http://schemas.microsoft.com/office/2007/relationships/media"/><Relationship Id="rId6" Target="../media/image3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jpeg" Type="http://schemas.openxmlformats.org/officeDocument/2006/relationships/image"/><Relationship Id="rId4" Target="../media/VAHRm7hxHDg.mp4" Type="http://schemas.openxmlformats.org/officeDocument/2006/relationships/video"/><Relationship Id="rId5" Target="../media/VAHRm7hxHDg.mp4" Type="http://schemas.microsoft.com/office/2007/relationships/media"/><Relationship Id="rId6" Target="../media/image3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0000"/>
          </a:blip>
          <a:srcRect l="0" t="0" r="0" b="0"/>
          <a:stretch>
            <a:fillRect/>
          </a:stretch>
        </p:blipFill>
        <p:spPr>
          <a:xfrm flipH="false" flipV="false" rot="0">
            <a:off x="4524012" y="1533533"/>
            <a:ext cx="8229600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0" y="4165608"/>
            <a:ext cx="18288000" cy="28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METRO NETWORK SYSTEM: AUTOCOMPLETE &amp; INFRASTRUCTURE OPTIMIZATION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370314" y="3136892"/>
            <a:ext cx="11964996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DATA STRUCTURES &amp; ALGORITHMS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72313" y="7362514"/>
            <a:ext cx="4143375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Team Members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Ibrahim Aziz - BSCE24027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Kashif Saeed - BSCE24029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Abdur Rabb - BSCE24003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111001" y="9128125"/>
            <a:ext cx="1652650" cy="5949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0265" t="0" r="-72675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51470" t="0" r="-5147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AutoShape 15" id="15"/>
          <p:cNvSpPr/>
          <p:nvPr/>
        </p:nvSpPr>
        <p:spPr>
          <a:xfrm>
            <a:off x="-148255" y="291543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013717" y="1028700"/>
            <a:ext cx="866201" cy="1732402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09411" y="444231"/>
            <a:ext cx="5185990" cy="245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 &amp; MOTIVATION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8941" y="3381802"/>
            <a:ext cx="5435094" cy="634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</a:t>
            </a: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oblem 1 (User Experience): Commuters need fast, error-tolerant station search and autocompletion while typing.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2 (Network Planning): Transit authorities need to connect all metro stations with the minimum track distance to reduce layout cost.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Solution: A unified system combining a Trie Time complexity of O(N) prefix search and Kruskal's Algorithm Time Complexity for O(NlogN) optimal network coverage.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6111001" y="9128125"/>
            <a:ext cx="1652650" cy="594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24726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31422">
            <a:off x="0" y="916997"/>
            <a:ext cx="9650133" cy="4342560"/>
          </a:xfrm>
          <a:custGeom>
            <a:avLst/>
            <a:gdLst/>
            <a:ahLst/>
            <a:cxnLst/>
            <a:rect r="r" b="b" t="t" l="l"/>
            <a:pathLst>
              <a:path h="4342560" w="9650133">
                <a:moveTo>
                  <a:pt x="0" y="0"/>
                </a:moveTo>
                <a:lnTo>
                  <a:pt x="9650133" y="0"/>
                </a:lnTo>
                <a:lnTo>
                  <a:pt x="9650133" y="4342560"/>
                </a:lnTo>
                <a:lnTo>
                  <a:pt x="0" y="4342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5944440"/>
            <a:ext cx="9650133" cy="4342560"/>
          </a:xfrm>
          <a:custGeom>
            <a:avLst/>
            <a:gdLst/>
            <a:ahLst/>
            <a:cxnLst/>
            <a:rect r="r" b="b" t="t" l="l"/>
            <a:pathLst>
              <a:path h="4342560" w="9650133">
                <a:moveTo>
                  <a:pt x="0" y="0"/>
                </a:moveTo>
                <a:lnTo>
                  <a:pt x="9650133" y="0"/>
                </a:lnTo>
                <a:lnTo>
                  <a:pt x="9650133" y="4342560"/>
                </a:lnTo>
                <a:lnTo>
                  <a:pt x="0" y="4342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06450" y="806450"/>
            <a:ext cx="8337550" cy="8674100"/>
            <a:chOff x="0" y="0"/>
            <a:chExt cx="2195898" cy="2284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5898" cy="2284537"/>
            </a:xfrm>
            <a:custGeom>
              <a:avLst/>
              <a:gdLst/>
              <a:ahLst/>
              <a:cxnLst/>
              <a:rect r="r" b="b" t="t" l="l"/>
              <a:pathLst>
                <a:path h="2284537" w="2195898">
                  <a:moveTo>
                    <a:pt x="47357" y="0"/>
                  </a:moveTo>
                  <a:lnTo>
                    <a:pt x="2148541" y="0"/>
                  </a:lnTo>
                  <a:cubicBezTo>
                    <a:pt x="2161101" y="0"/>
                    <a:pt x="2173146" y="4989"/>
                    <a:pt x="2182027" y="13870"/>
                  </a:cubicBezTo>
                  <a:cubicBezTo>
                    <a:pt x="2190909" y="22752"/>
                    <a:pt x="2195898" y="34797"/>
                    <a:pt x="2195898" y="47357"/>
                  </a:cubicBezTo>
                  <a:lnTo>
                    <a:pt x="2195898" y="2237180"/>
                  </a:lnTo>
                  <a:cubicBezTo>
                    <a:pt x="2195898" y="2249740"/>
                    <a:pt x="2190909" y="2261785"/>
                    <a:pt x="2182027" y="2270666"/>
                  </a:cubicBezTo>
                  <a:cubicBezTo>
                    <a:pt x="2173146" y="2279547"/>
                    <a:pt x="2161101" y="2284537"/>
                    <a:pt x="2148541" y="2284537"/>
                  </a:cubicBezTo>
                  <a:lnTo>
                    <a:pt x="47357" y="2284537"/>
                  </a:lnTo>
                  <a:cubicBezTo>
                    <a:pt x="34797" y="2284537"/>
                    <a:pt x="22752" y="2279547"/>
                    <a:pt x="13870" y="2270666"/>
                  </a:cubicBezTo>
                  <a:cubicBezTo>
                    <a:pt x="4989" y="2261785"/>
                    <a:pt x="0" y="2249740"/>
                    <a:pt x="0" y="2237180"/>
                  </a:cubicBezTo>
                  <a:lnTo>
                    <a:pt x="0" y="47357"/>
                  </a:lnTo>
                  <a:cubicBezTo>
                    <a:pt x="0" y="34797"/>
                    <a:pt x="4989" y="22752"/>
                    <a:pt x="13870" y="13870"/>
                  </a:cubicBezTo>
                  <a:cubicBezTo>
                    <a:pt x="22752" y="4989"/>
                    <a:pt x="34797" y="0"/>
                    <a:pt x="4735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95898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5240" y="1200513"/>
            <a:ext cx="6499970" cy="7927612"/>
          </a:xfrm>
          <a:custGeom>
            <a:avLst/>
            <a:gdLst/>
            <a:ahLst/>
            <a:cxnLst/>
            <a:rect r="r" b="b" t="t" l="l"/>
            <a:pathLst>
              <a:path h="7927612" w="6499970">
                <a:moveTo>
                  <a:pt x="0" y="0"/>
                </a:moveTo>
                <a:lnTo>
                  <a:pt x="6499970" y="0"/>
                </a:lnTo>
                <a:lnTo>
                  <a:pt x="6499970" y="7927612"/>
                </a:lnTo>
                <a:lnTo>
                  <a:pt x="0" y="7927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6111001" y="9128125"/>
            <a:ext cx="1652650" cy="59495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257821" y="1695462"/>
            <a:ext cx="5867648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EXPLAINED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57821" y="883334"/>
            <a:ext cx="6411398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UML DIAGRAM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56602" y="2764747"/>
            <a:ext cx="7765449" cy="566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MetroNetwork → Main controller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Stores stations, routes, and search structure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Functions: add routes, search stations, compute MST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StationTrie → Fast station name search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Root node of trie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Functions: insert names, autocomplete search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RouteEdge → Represents a route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Start station (u), end station (v), weight (w)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TrieNode → Building block of search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Children links, end marker, station name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Relationships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MetroNetwork uses RouteEdge (routes) + StationTrie (search)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StationTrie is built from TrieNodes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72885.1640" end="16796.5810"/>
                </p14:media>
              </p:ext>
            </p:extLst>
          </p:nvPr>
        </p:nvPicPr>
        <p:blipFill>
          <a:blip r:embed="rId3"/>
          <a:srcRect l="0" t="11447" r="0" b="24387"/>
          <a:stretch>
            <a:fillRect/>
          </a:stretch>
        </p:blipFill>
        <p:spPr>
          <a:xfrm flipH="false" flipV="false" rot="0">
            <a:off x="9144000" y="1747859"/>
            <a:ext cx="7214467" cy="8229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09411" y="1662134"/>
            <a:ext cx="4243380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TRIE</a:t>
            </a:r>
          </a:p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ALGORITHM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ALGORITHM - 1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9411" y="3385429"/>
            <a:ext cx="5634574" cy="223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Insert station names character by character into a tree structure. Traverse down to the prefix node, then perform a Depth-First Search (DFS) or Breadth-First Search (BFS) from that node to retrieve all matching station suggestions.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5777945"/>
            <a:ext cx="5634574" cy="29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 Complexity: O(L + K)</a:t>
            </a: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Why? </a:t>
            </a: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 → You insert a word character by character. If the word length is L, you make L steps. 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 → Time to collect all matching words from that node.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19904" y="1116946"/>
            <a:ext cx="391022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VIDEO ANIMATION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6432975" y="9382505"/>
            <a:ext cx="1652650" cy="5949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9195227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16873" r="0" b="14423"/>
          <a:stretch>
            <a:fillRect/>
          </a:stretch>
        </p:blipFill>
        <p:spPr>
          <a:xfrm flipH="false" flipV="false" rot="0">
            <a:off x="9588684" y="1840505"/>
            <a:ext cx="6473843" cy="7907112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09411" y="3152264"/>
            <a:ext cx="5634574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Sort the routes → Line up all train tracks (edges) from shortest to longest.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 for loops → Use DSU (Find‑Union) to make sure adding a track doesn’t create a cycle.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ect stations → Keep adding the shortest track that links two separate groups until all stations are connected.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9411" y="6311389"/>
            <a:ext cx="5634574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 Complity = O(E logE)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Why?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Suppose you have E=16 edges.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Sorting splits them: 16 → 8 → 4 → 2 → 1.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That’s about log₂(16) = 4 steps of splitting.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each split, you still handle all E edges.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 total work = E×logE.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09411" y="1424009"/>
            <a:ext cx="4243380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KRUSKAL</a:t>
            </a:r>
          </a:p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ALGORITHM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704850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ALGORITHM - 2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81827" y="1132802"/>
            <a:ext cx="348755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VIDEO ANIMATIONS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6432975" y="9258300"/>
            <a:ext cx="1652650" cy="5949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5000" y="4180445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4900" y="4180445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157516" y="3589356"/>
            <a:ext cx="1404422" cy="1923866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695172" y="4247842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DAHRmR6pLQY</dc:identifier>
  <dcterms:modified xsi:type="dcterms:W3CDTF">2011-08-01T06:04:30Z</dcterms:modified>
  <cp:revision>1</cp:revision>
  <dc:title>Data Structures &amp; Algorithms</dc:title>
</cp:coreProperties>
</file>